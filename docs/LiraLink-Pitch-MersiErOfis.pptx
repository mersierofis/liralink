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1" r:id="rId15"/>
    <p:sldId id="262" r:id="rId16"/>
    <p:sldId id="260" r:id="rId9"/>
  </p:sldIdLst>
  <p:sldSz cy="10287000" cx="18288000"/>
  <p:notesSz cx="6858000" cy="9144000"/>
  <p:embeddedFontLst>
    <p:embeddedFont>
      <p:font typeface="Geo"/>
      <p:regular r:id="rId10"/>
      <p:italic r:id="rId11"/>
    </p:embeddedFont>
    <p:embeddedFont>
      <p:font typeface="Anton"/>
      <p:regular r:id="rId12"/>
    </p:embeddedFont>
    <p:embeddedFont>
      <p:font typeface="Oswald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11" Type="http://schemas.openxmlformats.org/officeDocument/2006/relationships/font" Target="fonts/Geo-italic.fntdata"/><Relationship Id="rId10" Type="http://schemas.openxmlformats.org/officeDocument/2006/relationships/font" Target="fonts/Geo-regular.fntdata"/><Relationship Id="rId13" Type="http://schemas.openxmlformats.org/officeDocument/2006/relationships/font" Target="fonts/Oswald-regular.fntdata"/><Relationship Id="rId12" Type="http://schemas.openxmlformats.org/officeDocument/2006/relationships/font" Target="fonts/Anton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Oswa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  <Relationship Id="rId15" Type="http://schemas.openxmlformats.org/officeDocument/2006/relationships/slide" Target="slides/slide6.xml"/>
  <Relationship Id="rId16" Type="http://schemas.openxmlformats.org/officeDocument/2006/relationships/slide" Target="slides/slide7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75cbe08ac_7_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e75cbe08ac_7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75cbe08ac_7_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75cbe08ac_7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75cbe08ac_7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75cbe08ac_7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75cbe08ac_7_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e75cbe08ac_7_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3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2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4400" y="138112"/>
            <a:ext cx="16459200" cy="2262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1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1"/>
          <p:cNvSpPr txBox="1"/>
          <p:nvPr/>
        </p:nvSpPr>
        <p:spPr>
          <a:xfrm>
            <a:off x="1047750" y="2428875"/>
            <a:ext cx="1285875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392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1200"/>
              <a:buFont typeface="Anton"/>
              <a:buNone/>
            </a:pPr>
            <a:r>
              <a:rPr b="0" i="0" lang="en-US" sz="112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</a:t>
            </a:r>
            <a:endParaRPr/>
          </a:p>
        </p:txBody>
      </p:sp>
      <p:sp>
        <p:nvSpPr>
          <p:cNvPr id="52" name="Google Shape;52;p11"/>
          <p:cNvSpPr txBox="1"/>
          <p:nvPr/>
        </p:nvSpPr>
        <p:spPr>
          <a:xfrm>
            <a:off x="1047750" y="3629025"/>
            <a:ext cx="1285875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392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1200"/>
              <a:buFont typeface="Anton"/>
              <a:buNone/>
            </a:pPr>
            <a:r>
              <a:rPr b="0" i="0" lang="en-US" sz="112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STELLAR</a:t>
            </a:r>
            <a:endParaRPr/>
          </a:p>
        </p:txBody>
      </p:sp>
      <p:sp>
        <p:nvSpPr>
          <p:cNvPr id="53" name="Google Shape;53;p11"/>
          <p:cNvSpPr txBox="1"/>
          <p:nvPr/>
        </p:nvSpPr>
        <p:spPr>
          <a:xfrm>
            <a:off x="1047750" y="4829175"/>
            <a:ext cx="128589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3928"/>
              </a:lnSpc>
              <a:spcBef>
                <a:spcPts val="0"/>
              </a:spcBef>
              <a:spcAft>
                <a:spcPts val="0"/>
              </a:spcAft>
              <a:buClr>
                <a:srgbClr val="DDA322"/>
              </a:buClr>
              <a:buSzPts val="11200"/>
              <a:buFont typeface="Anton"/>
              <a:buNone/>
            </a:pPr>
            <a:r>
              <a:rPr b="0" i="0" lang="en-US" sz="11200" u="none">
                <a:solidFill>
                  <a:srgbClr val="DDA322"/>
                </a:solidFill>
                <a:latin typeface="Anton"/>
                <a:ea typeface="Anton"/>
                <a:cs typeface="Anton"/>
                <a:sym typeface="Anton"/>
              </a:rPr>
              <a:t>HACKATHON</a:t>
            </a:r>
            <a:endParaRPr/>
          </a:p>
        </p:txBody>
      </p:sp>
      <p:sp>
        <p:nvSpPr>
          <p:cNvPr id="54" name="Google Shape;54;p11"/>
          <p:cNvSpPr txBox="1"/>
          <p:nvPr/>
        </p:nvSpPr>
        <p:spPr>
          <a:xfrm>
            <a:off x="1047750" y="6000750"/>
            <a:ext cx="12858750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200"/>
              <a:buFont typeface="Oswald"/>
              <a:buNone/>
            </a:pPr>
            <a:r>
              <a:rPr b="0" i="0" lang="en-US" sz="22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LiraLink — get paid in lira from abroad.</a:t>
            </a:r>
            <a:endParaRPr/>
          </a:p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200"/>
              <a:buFont typeface="Oswald"/>
              <a:buNone/>
            </a:pPr>
            <a:r>
              <a:rPr b="0" i="0" lang="en-US" sz="22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 xml:space="preserve">Team MersiErOfis · </a:t>
            </a:r>
            <a:r>
              <a:rPr b="1" i="0" lang="en-US" sz="2200" u="none">
                <a:solidFill>
                  <a:srgbClr val="B5861C"/>
                </a:solidFill>
                <a:latin typeface="Oswald"/>
                <a:ea typeface="Oswald"/>
                <a:cs typeface="Oswald"/>
                <a:sym typeface="Oswald"/>
              </a:rPr>
              <a:t>GENESIS TRACK</a:t>
            </a:r>
            <a:endParaRPr/>
          </a:p>
        </p:txBody>
      </p:sp>
      <p:sp>
        <p:nvSpPr>
          <p:cNvPr id="55" name="Google Shape;55;p11"/>
          <p:cNvSpPr txBox="1"/>
          <p:nvPr/>
        </p:nvSpPr>
        <p:spPr>
          <a:xfrm>
            <a:off x="1047750" y="7324725"/>
            <a:ext cx="5013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cap="sq" cmpd="sng" w="19050">
            <a:solidFill>
              <a:srgbClr val="1A181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1"/>
          <p:cNvSpPr txBox="1"/>
          <p:nvPr/>
        </p:nvSpPr>
        <p:spPr>
          <a:xfrm>
            <a:off x="2703512" y="7343775"/>
            <a:ext cx="19050" cy="64770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1066850" y="7499850"/>
            <a:ext cx="165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Oswald"/>
              <a:buNone/>
            </a:pPr>
            <a:r>
              <a:rPr b="1" i="0" lang="en-US" sz="18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ISTANBUL</a:t>
            </a:r>
            <a:endParaRPr/>
          </a:p>
        </p:txBody>
      </p:sp>
      <p:sp>
        <p:nvSpPr>
          <p:cNvPr id="58" name="Google Shape;58;p11"/>
          <p:cNvSpPr txBox="1"/>
          <p:nvPr/>
        </p:nvSpPr>
        <p:spPr>
          <a:xfrm>
            <a:off x="4327525" y="7343775"/>
            <a:ext cx="19050" cy="64770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1"/>
          <p:cNvSpPr txBox="1"/>
          <p:nvPr/>
        </p:nvSpPr>
        <p:spPr>
          <a:xfrm>
            <a:off x="2713012" y="7499850"/>
            <a:ext cx="16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Oswald"/>
              <a:buNone/>
            </a:pPr>
            <a:r>
              <a:rPr b="1" i="0" lang="en-US" sz="18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SEPT 19–20</a:t>
            </a:r>
            <a:endParaRPr/>
          </a:p>
        </p:txBody>
      </p:sp>
      <p:sp>
        <p:nvSpPr>
          <p:cNvPr id="60" name="Google Shape;60;p11"/>
          <p:cNvSpPr txBox="1"/>
          <p:nvPr/>
        </p:nvSpPr>
        <p:spPr>
          <a:xfrm>
            <a:off x="4327525" y="7485263"/>
            <a:ext cx="169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Oswald"/>
              <a:buNone/>
            </a:pPr>
            <a:r>
              <a:rPr b="1" i="0" lang="en-US" sz="18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48 HOURS</a:t>
            </a:r>
            <a:endParaRPr/>
          </a:p>
        </p:txBody>
      </p:sp>
      <p:sp>
        <p:nvSpPr>
          <p:cNvPr id="61" name="Google Shape;61;p11"/>
          <p:cNvSpPr txBox="1"/>
          <p:nvPr/>
        </p:nvSpPr>
        <p:spPr>
          <a:xfrm>
            <a:off x="14612937" y="4610100"/>
            <a:ext cx="2397125" cy="1016000"/>
          </a:xfrm>
          <a:prstGeom prst="rect">
            <a:avLst/>
          </a:prstGeom>
          <a:solidFill>
            <a:srgbClr val="EDE8DC"/>
          </a:solidFill>
          <a:ln cap="sq" cmpd="sng" w="28575">
            <a:solidFill>
              <a:srgbClr val="1A181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1"/>
          <p:cNvSpPr txBox="1"/>
          <p:nvPr/>
        </p:nvSpPr>
        <p:spPr>
          <a:xfrm>
            <a:off x="14889162" y="4724400"/>
            <a:ext cx="1844675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200"/>
              <a:buFont typeface="Oswald"/>
              <a:buNone/>
            </a:pPr>
            <a:r>
              <a:rPr b="1" i="0" lang="en-US" sz="12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NO HELMET · NO ENTRY</a:t>
            </a:r>
            <a:endParaRPr/>
          </a:p>
        </p:txBody>
      </p:sp>
      <p:sp>
        <p:nvSpPr>
          <p:cNvPr id="63" name="Google Shape;63;p11"/>
          <p:cNvSpPr txBox="1"/>
          <p:nvPr/>
        </p:nvSpPr>
        <p:spPr>
          <a:xfrm>
            <a:off x="14889162" y="5032375"/>
            <a:ext cx="1844675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5861C"/>
              </a:buClr>
              <a:buSzPts val="1200"/>
              <a:buFont typeface="Oswald"/>
              <a:buNone/>
            </a:pPr>
            <a:r>
              <a:rPr b="1" i="0" lang="en-US" sz="1200" u="none">
                <a:solidFill>
                  <a:srgbClr val="B5861C"/>
                </a:solidFill>
                <a:latin typeface="Oswald"/>
                <a:ea typeface="Oswald"/>
                <a:cs typeface="Oswald"/>
                <a:sym typeface="Oswald"/>
              </a:rPr>
              <a:t>NO CODE · NO EXIT</a:t>
            </a:r>
            <a:endParaRPr/>
          </a:p>
        </p:txBody>
      </p:sp>
      <p:sp>
        <p:nvSpPr>
          <p:cNvPr id="64" name="Google Shape;64;p11"/>
          <p:cNvSpPr txBox="1"/>
          <p:nvPr/>
        </p:nvSpPr>
        <p:spPr>
          <a:xfrm>
            <a:off x="1047750" y="9639300"/>
            <a:ext cx="50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300"/>
              <a:buFont typeface="Oswald"/>
              <a:buNone/>
            </a:pPr>
            <a:r>
              <a:rPr b="1" lang="en-US" sz="1300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b="1" i="0" lang="en-US" sz="130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2026</a:t>
            </a:r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12074525" y="9610725"/>
            <a:ext cx="5165725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300"/>
              <a:buFont typeface="Geo"/>
              <a:buNone/>
            </a:pPr>
            <a:r>
              <a:rPr b="0" i="1" lang="en-US" sz="1300" u="none">
                <a:solidFill>
                  <a:srgbClr val="3A352E"/>
                </a:solidFill>
                <a:latin typeface="Geo"/>
                <a:ea typeface="Geo"/>
                <a:cs typeface="Geo"/>
                <a:sym typeface="Geo"/>
              </a:rPr>
              <a:t>Confidential • All rights reserved © 2026 Stellar Development Foundation</a:t>
            </a:r>
            <a:endParaRPr/>
          </a:p>
        </p:txBody>
      </p:sp>
      <p:sp>
        <p:nvSpPr>
          <p:cNvPr id="66" name="Google Shape;66;p11"/>
          <p:cNvSpPr txBox="1"/>
          <p:nvPr/>
        </p:nvSpPr>
        <p:spPr>
          <a:xfrm>
            <a:off x="7537450" y="609600"/>
            <a:ext cx="887412" cy="762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8805862" y="704850"/>
            <a:ext cx="19050" cy="571500"/>
          </a:xfrm>
          <a:prstGeom prst="rect">
            <a:avLst/>
          </a:prstGeom>
          <a:solidFill>
            <a:srgbClr val="1A1815">
              <a:alpha val="29804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1"/>
          <p:cNvSpPr txBox="1"/>
          <p:nvPr/>
        </p:nvSpPr>
        <p:spPr>
          <a:xfrm>
            <a:off x="9205912" y="752475"/>
            <a:ext cx="1544637" cy="47625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1"/>
          <p:cNvSpPr txBox="1"/>
          <p:nvPr/>
        </p:nvSpPr>
        <p:spPr>
          <a:xfrm rot="2700000">
            <a:off x="14859000" y="2266950"/>
            <a:ext cx="1905000" cy="1905000"/>
          </a:xfrm>
          <a:prstGeom prst="rect">
            <a:avLst/>
          </a:prstGeom>
          <a:solidFill>
            <a:srgbClr val="DDA322"/>
          </a:solidFill>
          <a:ln cap="sq" cmpd="sng" w="47625">
            <a:solidFill>
              <a:srgbClr val="1A181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1"/>
          <p:cNvSpPr txBox="1"/>
          <p:nvPr/>
        </p:nvSpPr>
        <p:spPr>
          <a:xfrm>
            <a:off x="15268575" y="3143250"/>
            <a:ext cx="1085850" cy="893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4000"/>
              <a:buFont typeface="Anton"/>
              <a:buNone/>
            </a:pPr>
            <a:r>
              <a:rPr b="0" i="0" lang="en-US" sz="40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2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2"/>
          <p:cNvSpPr txBox="1"/>
          <p:nvPr/>
        </p:nvSpPr>
        <p:spPr>
          <a:xfrm>
            <a:off x="1047750" y="2405062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b="0" i="0" lang="en-US" sz="30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One link. They pay USDC, you receive Turkish lira.</a:t>
            </a:r>
            <a:endParaRPr/>
          </a:p>
        </p:txBody>
      </p:sp>
      <p:sp>
        <p:nvSpPr>
          <p:cNvPr id="78" name="Google Shape;78;p12"/>
          <p:cNvSpPr txBox="1"/>
          <p:nvPr/>
        </p:nvSpPr>
        <p:spPr>
          <a:xfrm>
            <a:off x="1392222" y="3195625"/>
            <a:ext cx="8543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i="1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The merchant prices in TRY, not crypto.</a:t>
            </a:r>
            <a:endParaRPr i="1"/>
          </a:p>
        </p:txBody>
      </p:sp>
      <p:grpSp>
        <p:nvGrpSpPr>
          <p:cNvPr id="79" name="Google Shape;79;p12"/>
          <p:cNvGrpSpPr/>
          <p:nvPr/>
        </p:nvGrpSpPr>
        <p:grpSpPr>
          <a:xfrm>
            <a:off x="1047750" y="5516562"/>
            <a:ext cx="1227138" cy="495300"/>
            <a:chOff x="0" y="0"/>
            <a:chExt cx="1226534" cy="495300"/>
          </a:xfrm>
        </p:grpSpPr>
        <p:sp>
          <p:nvSpPr>
            <p:cNvPr id="80" name="Google Shape;80;p12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2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8900" lIns="88900" spcFirstLastPara="1" rIns="88900" wrap="square" tIns="88900">
              <a:sp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b="1" lang="en-US" sz="1800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 </a:t>
              </a:r>
              <a:r>
                <a:rPr b="1" i="0" lang="en-US" sz="180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82" name="Google Shape;82;p12"/>
          <p:cNvSpPr txBox="1"/>
          <p:nvPr/>
        </p:nvSpPr>
        <p:spPr>
          <a:xfrm>
            <a:off x="1392222" y="3784600"/>
            <a:ext cx="745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i="1" lang="en-US" sz="2500" u="none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The rate is locked when the link is created.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" name="Google Shape;83;p12"/>
          <p:cNvSpPr txBox="1"/>
          <p:nvPr/>
        </p:nvSpPr>
        <p:spPr>
          <a:xfrm>
            <a:off x="762000" y="971550"/>
            <a:ext cx="11239500" cy="14668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2"/>
          <p:cNvSpPr txBox="1"/>
          <p:nvPr/>
        </p:nvSpPr>
        <p:spPr>
          <a:xfrm rot="2700000">
            <a:off x="1104900" y="335121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2"/>
          <p:cNvSpPr txBox="1"/>
          <p:nvPr/>
        </p:nvSpPr>
        <p:spPr>
          <a:xfrm rot="2700000">
            <a:off x="1104900" y="398145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2"/>
          <p:cNvSpPr txBox="1"/>
          <p:nvPr/>
        </p:nvSpPr>
        <p:spPr>
          <a:xfrm rot="2700000">
            <a:off x="1104900" y="4611687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b="0" i="0" lang="en-US" sz="1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88" name="Google Shape;88;p12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b="1" i="0" lang="en-US" sz="80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89" name="Google Shape;89;p12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2"/>
          <p:cNvSpPr txBox="1"/>
          <p:nvPr/>
        </p:nvSpPr>
        <p:spPr>
          <a:xfrm>
            <a:off x="1047750" y="1200150"/>
            <a:ext cx="5964237" cy="1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b="0" i="0" lang="en-US" sz="8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THE SOLUTION</a:t>
            </a:r>
            <a:endParaRPr/>
          </a:p>
        </p:txBody>
      </p:sp>
      <p:sp>
        <p:nvSpPr>
          <p:cNvPr id="91" name="Google Shape;91;p12"/>
          <p:cNvSpPr txBox="1"/>
          <p:nvPr/>
        </p:nvSpPr>
        <p:spPr>
          <a:xfrm>
            <a:off x="2474975" y="5599125"/>
            <a:ext cx="1123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1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Live on testnet today: create a link, pay it, watch the lira land.</a:t>
            </a:r>
            <a:endParaRPr i="1"/>
          </a:p>
        </p:txBody>
      </p:sp>
      <p:sp>
        <p:nvSpPr>
          <p:cNvPr id="92" name="Google Shape;92;p12"/>
          <p:cNvSpPr txBox="1"/>
          <p:nvPr/>
        </p:nvSpPr>
        <p:spPr>
          <a:xfrm>
            <a:off x="1447800" y="4456112"/>
            <a:ext cx="493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1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Settled by the official TRY anchor over SEP-6.</a:t>
            </a:r>
            <a:endParaRPr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047750" y="2590812"/>
            <a:ext cx="10287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b="0" i="0" lang="en-US" sz="30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Collecting money from a buyer abroad still costs percent.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1428750" y="3644900"/>
            <a:ext cx="11239500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An exporter in Erdemli, interviewed today: a wire lands in ~1 day and loses ~3% — $300 on a $10,000 invoice.</a:t>
            </a:r>
            <a:endParaRPr/>
          </a:p>
        </p:txBody>
      </p:sp>
      <p:grpSp>
        <p:nvGrpSpPr>
          <p:cNvPr id="101" name="Google Shape;101;p13"/>
          <p:cNvGrpSpPr/>
          <p:nvPr/>
        </p:nvGrpSpPr>
        <p:grpSpPr>
          <a:xfrm>
            <a:off x="1047750" y="5756275"/>
            <a:ext cx="1227138" cy="495300"/>
            <a:chOff x="0" y="0"/>
            <a:chExt cx="1226534" cy="495300"/>
          </a:xfrm>
        </p:grpSpPr>
        <p:sp>
          <p:nvSpPr>
            <p:cNvPr id="102" name="Google Shape;102;p13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3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8900" lIns="88900" spcFirstLastPara="1" rIns="88900" wrap="square" tIns="88900">
              <a:sp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b="1" lang="en-US" sz="1800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</a:t>
              </a:r>
              <a:r>
                <a:rPr b="1" i="0" lang="en-US" sz="180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104" name="Google Shape;104;p13"/>
          <p:cNvSpPr txBox="1"/>
          <p:nvPr/>
        </p:nvSpPr>
        <p:spPr>
          <a:xfrm>
            <a:off x="2446321" y="5811475"/>
            <a:ext cx="7713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i="1" lang="en-US" sz="2500" u="none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Same invoice on LiraLink: a 50 bps anchor spread, about $50.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762000" y="990600"/>
            <a:ext cx="5334000" cy="14287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 rot="2700000">
            <a:off x="1104900" y="380206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 rot="2700000">
            <a:off x="1104900" y="485140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b="0" i="0" lang="en-US" sz="1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b="1" i="0" lang="en-US" sz="80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1047750" y="1200150"/>
            <a:ext cx="2098675" cy="1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b="0" i="0" lang="en-US" sz="8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PMF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1428750" y="4697412"/>
            <a:ext cx="11239500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Our users: citrus exporters in Mersin, boutique hotels, freelancers invoicing abroad.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1047750" y="3440112"/>
            <a:ext cx="10287000" cy="884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b="0" i="0" lang="en-US" sz="30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Merchant creates a TRY link → buyer pays USDC → anchor pays TRY to the IBAN.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455737" y="4681537"/>
            <a:ext cx="7448550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Our Soroban contract receives each payment.</a:t>
            </a:r>
            <a:endParaRPr/>
          </a:p>
        </p:txBody>
      </p:sp>
      <p:grpSp>
        <p:nvGrpSpPr>
          <p:cNvPr id="121" name="Google Shape;121;p14"/>
          <p:cNvGrpSpPr/>
          <p:nvPr/>
        </p:nvGrpSpPr>
        <p:grpSpPr>
          <a:xfrm>
            <a:off x="1047750" y="6372225"/>
            <a:ext cx="1227138" cy="495300"/>
            <a:chOff x="0" y="0"/>
            <a:chExt cx="1226534" cy="495300"/>
          </a:xfrm>
        </p:grpSpPr>
        <p:sp>
          <p:nvSpPr>
            <p:cNvPr id="122" name="Google Shape;122;p14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4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8900" lIns="88900" spcFirstLastPara="1" rIns="88900" wrap="square" tIns="88900">
              <a:sp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b="1" lang="en-US" sz="1800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</a:t>
              </a:r>
              <a:r>
                <a:rPr b="1" i="0" lang="en-US" sz="180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124" name="Google Shape;124;p14"/>
          <p:cNvSpPr txBox="1"/>
          <p:nvPr/>
        </p:nvSpPr>
        <p:spPr>
          <a:xfrm>
            <a:off x="2446322" y="6315075"/>
            <a:ext cx="916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i="1" lang="en-US" sz="2500" u="none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Two rails, one ledger: the contract, or a classic USDC payment matched by memo.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762000" y="952500"/>
            <a:ext cx="11049000" cy="19621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 rot="2700000">
            <a:off x="1104900" y="483711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 rot="2700000">
            <a:off x="1104900" y="546735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b="0" i="0" lang="en-US" sz="1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b="1" i="0" lang="en-US" sz="80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1047750" y="1190625"/>
            <a:ext cx="3698875" cy="1550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507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6900"/>
              <a:buFont typeface="Anton"/>
              <a:buNone/>
            </a:pPr>
            <a:r>
              <a:rPr b="0" i="0" lang="en-US" sz="69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TECHNICAL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1047750" y="1944687"/>
            <a:ext cx="3698875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507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6900"/>
              <a:buFont typeface="Anton"/>
              <a:buNone/>
            </a:pPr>
            <a:r>
              <a:rPr b="0" i="0" lang="en-US" sz="69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WORKFLOW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455737" y="5311775"/>
            <a:ext cx="8574087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SEP-1/10/12/38 and a SEP-6 withdraw against the TR anchor; the rate is locked from its SEP-38 quote.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1047750" y="2405062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b="0" i="0" lang="en-US" sz="30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MersiErOfis — three builders from Mersin.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538287" y="3389312"/>
            <a:ext cx="7580312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Hasan — QA/SDET, backend and the contract.</a:t>
            </a:r>
            <a:endParaRPr/>
          </a:p>
        </p:txBody>
      </p:sp>
      <p:grpSp>
        <p:nvGrpSpPr>
          <p:cNvPr id="142" name="Google Shape;142;p15"/>
          <p:cNvGrpSpPr/>
          <p:nvPr/>
        </p:nvGrpSpPr>
        <p:grpSpPr>
          <a:xfrm>
            <a:off x="1047750" y="5516562"/>
            <a:ext cx="1227138" cy="495300"/>
            <a:chOff x="0" y="0"/>
            <a:chExt cx="1226534" cy="495300"/>
          </a:xfrm>
        </p:grpSpPr>
        <p:sp>
          <p:nvSpPr>
            <p:cNvPr id="143" name="Google Shape;143;p15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5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8900" lIns="88900" spcFirstLastPara="1" rIns="88900" wrap="square" tIns="88900">
              <a:sp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b="1" lang="en-US" sz="1800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</a:t>
              </a:r>
              <a:r>
                <a:rPr b="1" i="0" lang="en-US" sz="180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145" name="Google Shape;145;p15"/>
          <p:cNvSpPr txBox="1"/>
          <p:nvPr/>
        </p:nvSpPr>
        <p:spPr>
          <a:xfrm>
            <a:off x="2446319" y="5571750"/>
            <a:ext cx="1028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i="1" lang="en-US" sz="2500" u="none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We build and we test: every rail was verified before we showed it.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762000" y="971550"/>
            <a:ext cx="8001000" cy="15049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 rot="2700000">
            <a:off x="1104900" y="335121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 rot="2700000">
            <a:off x="1104900" y="398145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 rot="2700000">
            <a:off x="1104900" y="4611687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b="0" i="0" lang="en-US" sz="1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b="1" i="0" lang="en-US" sz="80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1047750" y="1200150"/>
            <a:ext cx="4360862" cy="1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b="0" i="0" lang="en-US" sz="8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THE TEAM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1538287" y="3911600"/>
            <a:ext cx="4660900" cy="40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Vuslat — merchant app.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1538287" y="4456112"/>
            <a:ext cx="6321425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0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Yunus — payer app and wallet.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2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2"/>
          <p:cNvSpPr txBox="1"/>
          <p:nvPr/>
        </p:nvSpPr>
        <p:spPr>
          <a:xfrm>
            <a:off x="1047750" y="2405062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b="0" i="0" lang="en-US" sz="30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Every rail was paid for real on testnet.</a:t>
            </a:r>
            <a:endParaRPr/>
          </a:p>
        </p:txBody>
      </p:sp>
      <p:sp>
        <p:nvSpPr>
          <p:cNvPr id="78" name="Google Shape;78;p12"/>
          <p:cNvSpPr txBox="1"/>
          <p:nvPr/>
        </p:nvSpPr>
        <p:spPr>
          <a:xfrm>
            <a:off x="1392222" y="3195625"/>
            <a:ext cx="8543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i="1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Smart contract, memo payment, XLM payment.</a:t>
            </a:r>
            <a:endParaRPr i="1"/>
          </a:p>
        </p:txBody>
      </p:sp>
      <p:grpSp>
        <p:nvGrpSpPr>
          <p:cNvPr id="79" name="Google Shape;79;p12"/>
          <p:cNvGrpSpPr/>
          <p:nvPr/>
        </p:nvGrpSpPr>
        <p:grpSpPr>
          <a:xfrm>
            <a:off x="1047750" y="5516562"/>
            <a:ext cx="1227138" cy="495300"/>
            <a:chOff x="0" y="0"/>
            <a:chExt cx="1226534" cy="495300"/>
          </a:xfrm>
        </p:grpSpPr>
        <p:sp>
          <p:nvSpPr>
            <p:cNvPr id="80" name="Google Shape;80;p12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2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8900" lIns="88900" spcFirstLastPara="1" rIns="88900" wrap="square" tIns="88900">
              <a:sp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b="1" lang="en-US" sz="1800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 </a:t>
              </a:r>
              <a:r>
                <a:rPr b="1" i="0" lang="en-US" sz="180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82" name="Google Shape;82;p12"/>
          <p:cNvSpPr txBox="1"/>
          <p:nvPr/>
        </p:nvSpPr>
        <p:spPr>
          <a:xfrm>
            <a:off x="1392222" y="3784600"/>
            <a:ext cx="745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i="1" lang="en-US" sz="2500" u="none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Each settled to the merchant’s IBAN in lira.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" name="Google Shape;83;p12"/>
          <p:cNvSpPr txBox="1"/>
          <p:nvPr/>
        </p:nvSpPr>
        <p:spPr>
          <a:xfrm>
            <a:off x="762000" y="971550"/>
            <a:ext cx="11239500" cy="14668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2"/>
          <p:cNvSpPr txBox="1"/>
          <p:nvPr/>
        </p:nvSpPr>
        <p:spPr>
          <a:xfrm rot="2700000">
            <a:off x="1104900" y="335121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2"/>
          <p:cNvSpPr txBox="1"/>
          <p:nvPr/>
        </p:nvSpPr>
        <p:spPr>
          <a:xfrm rot="2700000">
            <a:off x="1104900" y="398145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2"/>
          <p:cNvSpPr txBox="1"/>
          <p:nvPr/>
        </p:nvSpPr>
        <p:spPr>
          <a:xfrm rot="2700000">
            <a:off x="1104900" y="4611687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b="0" i="0" lang="en-US" sz="1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88" name="Google Shape;88;p12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b="1" i="0" lang="en-US" sz="80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89" name="Google Shape;89;p12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2"/>
          <p:cNvSpPr txBox="1"/>
          <p:nvPr/>
        </p:nvSpPr>
        <p:spPr>
          <a:xfrm>
            <a:off x="1047750" y="1200150"/>
            <a:ext cx="5964237" cy="1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b="0" i="0" lang="en-US" sz="8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THE PROOF</a:t>
            </a:r>
            <a:endParaRPr/>
          </a:p>
        </p:txBody>
      </p:sp>
      <p:sp>
        <p:nvSpPr>
          <p:cNvPr id="91" name="Google Shape;91;p12"/>
          <p:cNvSpPr txBox="1"/>
          <p:nvPr/>
        </p:nvSpPr>
        <p:spPr>
          <a:xfrm>
            <a:off x="2474975" y="5599125"/>
            <a:ext cx="1123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1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Video: youtu.be/BFfT_cMtuvY · github.com/mersierofis/liralink</a:t>
            </a:r>
            <a:endParaRPr i="1"/>
          </a:p>
        </p:txBody>
      </p:sp>
      <p:sp>
        <p:nvSpPr>
          <p:cNvPr id="92" name="Google Shape;92;p12"/>
          <p:cNvSpPr txBox="1"/>
          <p:nvPr/>
        </p:nvSpPr>
        <p:spPr>
          <a:xfrm>
            <a:off x="1447800" y="4456112"/>
            <a:ext cx="493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1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Live apps for merchant and payer.</a:t>
            </a:r>
            <a:endParaRPr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2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2"/>
          <p:cNvSpPr txBox="1"/>
          <p:nvPr/>
        </p:nvSpPr>
        <p:spPr>
          <a:xfrm>
            <a:off x="1047750" y="2405062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b="0" i="0" lang="en-US" sz="30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Stellar skills vendored and cited by path.</a:t>
            </a:r>
            <a:endParaRPr/>
          </a:p>
        </p:txBody>
      </p:sp>
      <p:sp>
        <p:nvSpPr>
          <p:cNvPr id="78" name="Google Shape;78;p12"/>
          <p:cNvSpPr txBox="1"/>
          <p:nvPr/>
        </p:nvSpPr>
        <p:spPr>
          <a:xfrm>
            <a:off x="1392222" y="3195625"/>
            <a:ext cx="8543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i="1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Custodial by design; non-custodial is next.</a:t>
            </a:r>
            <a:endParaRPr i="1"/>
          </a:p>
        </p:txBody>
      </p:sp>
      <p:grpSp>
        <p:nvGrpSpPr>
          <p:cNvPr id="79" name="Google Shape;79;p12"/>
          <p:cNvGrpSpPr/>
          <p:nvPr/>
        </p:nvGrpSpPr>
        <p:grpSpPr>
          <a:xfrm>
            <a:off x="1047750" y="5516562"/>
            <a:ext cx="1227138" cy="495300"/>
            <a:chOff x="0" y="0"/>
            <a:chExt cx="1226534" cy="495300"/>
          </a:xfrm>
        </p:grpSpPr>
        <p:sp>
          <p:nvSpPr>
            <p:cNvPr id="80" name="Google Shape;80;p12"/>
            <p:cNvSpPr txBox="1"/>
            <p:nvPr/>
          </p:nvSpPr>
          <p:spPr>
            <a:xfrm>
              <a:off x="0" y="0"/>
              <a:ext cx="1226534" cy="495300"/>
            </a:xfrm>
            <a:prstGeom prst="rect">
              <a:avLst/>
            </a:prstGeom>
            <a:solidFill>
              <a:srgbClr val="1A1815"/>
            </a:solidFill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2"/>
            <p:cNvSpPr txBox="1"/>
            <p:nvPr/>
          </p:nvSpPr>
          <p:spPr>
            <a:xfrm>
              <a:off x="0" y="10926"/>
              <a:ext cx="12264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8900" lIns="88900" spcFirstLastPara="1" rIns="88900" wrap="square" tIns="88900">
              <a:spAutoFit/>
            </a:bodyPr>
            <a:lstStyle/>
            <a:p>
              <a:pPr indent="0" lvl="0" marL="0" marR="0" rtl="0" algn="l">
                <a:lnSpc>
                  <a:spcPct val="138888"/>
                </a:lnSpc>
                <a:spcBef>
                  <a:spcPts val="0"/>
                </a:spcBef>
                <a:spcAft>
                  <a:spcPts val="0"/>
                </a:spcAft>
                <a:buClr>
                  <a:srgbClr val="DDA322"/>
                </a:buClr>
                <a:buSzPts val="1800"/>
                <a:buFont typeface="Oswald"/>
                <a:buNone/>
              </a:pPr>
              <a:r>
                <a:rPr b="1" lang="en-US" sz="1800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     </a:t>
              </a:r>
              <a:r>
                <a:rPr b="1" i="0" lang="en-US" sz="1800" u="none">
                  <a:solidFill>
                    <a:srgbClr val="DDA322"/>
                  </a:solidFill>
                  <a:latin typeface="Oswald"/>
                  <a:ea typeface="Oswald"/>
                  <a:cs typeface="Oswald"/>
                  <a:sym typeface="Oswald"/>
                </a:rPr>
                <a:t>Think</a:t>
              </a:r>
              <a:endParaRPr/>
            </a:p>
          </p:txBody>
        </p:sp>
      </p:grpSp>
      <p:sp>
        <p:nvSpPr>
          <p:cNvPr id="82" name="Google Shape;82;p12"/>
          <p:cNvSpPr txBox="1"/>
          <p:nvPr/>
        </p:nvSpPr>
        <p:spPr>
          <a:xfrm>
            <a:off x="1392222" y="3784600"/>
            <a:ext cx="745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00"/>
              <a:buFont typeface="Geo"/>
              <a:buNone/>
            </a:pPr>
            <a:r>
              <a:rPr i="1" lang="en-US" sz="2500" u="none">
                <a:solidFill>
                  <a:srgbClr val="3A352E"/>
                </a:solidFill>
                <a:latin typeface="Georgia"/>
                <a:ea typeface="Georgia"/>
                <a:cs typeface="Georgia"/>
                <a:sym typeface="Georgia"/>
              </a:rPr>
              <a:t>Then x402 agents and email wallets.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" name="Google Shape;83;p12"/>
          <p:cNvSpPr txBox="1"/>
          <p:nvPr/>
        </p:nvSpPr>
        <p:spPr>
          <a:xfrm>
            <a:off x="762000" y="971550"/>
            <a:ext cx="11239500" cy="14668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2"/>
          <p:cNvSpPr txBox="1"/>
          <p:nvPr/>
        </p:nvSpPr>
        <p:spPr>
          <a:xfrm rot="2700000">
            <a:off x="1104900" y="335121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2"/>
          <p:cNvSpPr txBox="1"/>
          <p:nvPr/>
        </p:nvSpPr>
        <p:spPr>
          <a:xfrm rot="2700000">
            <a:off x="1104900" y="3981450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2"/>
          <p:cNvSpPr txBox="1"/>
          <p:nvPr/>
        </p:nvSpPr>
        <p:spPr>
          <a:xfrm rot="2700000">
            <a:off x="1104900" y="4611687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b="0" i="0" lang="en-US" sz="1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88" name="Google Shape;88;p12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b="1" i="0" lang="en-US" sz="80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89" name="Google Shape;89;p12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2"/>
          <p:cNvSpPr txBox="1"/>
          <p:nvPr/>
        </p:nvSpPr>
        <p:spPr>
          <a:xfrm>
            <a:off x="1047750" y="1200150"/>
            <a:ext cx="5964237" cy="1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b="0" i="0" lang="en-US" sz="880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WHAT IS NEXT</a:t>
            </a:r>
            <a:endParaRPr/>
          </a:p>
        </p:txBody>
      </p:sp>
      <p:sp>
        <p:nvSpPr>
          <p:cNvPr id="91" name="Google Shape;91;p12"/>
          <p:cNvSpPr txBox="1"/>
          <p:nvPr/>
        </p:nvSpPr>
        <p:spPr>
          <a:xfrm>
            <a:off x="2474975" y="5599125"/>
            <a:ext cx="1123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1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Applying to SCF / InstAward with this prototype.</a:t>
            </a:r>
            <a:endParaRPr i="1"/>
          </a:p>
        </p:txBody>
      </p:sp>
      <p:sp>
        <p:nvSpPr>
          <p:cNvPr id="92" name="Google Shape;92;p12"/>
          <p:cNvSpPr txBox="1"/>
          <p:nvPr/>
        </p:nvSpPr>
        <p:spPr>
          <a:xfrm>
            <a:off x="1447800" y="4456112"/>
            <a:ext cx="493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b="0" i="1" lang="en-US" sz="2500" u="none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Then a licensed anchor, DeFindex yield.</a:t>
            </a:r>
            <a:endParaRPr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